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37744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1F3864"/>
                </a:solidFill>
              </a:rPr>
              <a:t>Marketing Analytics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2918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>
                <a:solidFill>
                  <a:srgbClr val="2E5090"/>
                </a:solidFill>
              </a:rPr>
              <a:t>Key Findings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95959"/>
                </a:solidFill>
              </a:rPr>
              <a:t>Joel Bumba  | 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3864"/>
                </a:solidFill>
              </a:rPr>
              <a:t>The Business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0">
                <a:solidFill>
                  <a:srgbClr val="2E5090"/>
                </a:solidFill>
              </a:rPr>
              <a:t>Which customers are we at risk of losing, and where should</a:t>
            </a:r>
          </a:p>
          <a:p>
            <a:r>
              <a:t>we focus retention effort to protect revenue?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3864"/>
                </a:solidFill>
              </a:rPr>
              <a:t>Finding 1: Purchase Frequency Drives Retention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95959"/>
                </a:solidFill>
              </a:defRPr>
            </a:pPr>
            <a:r>
              <a:t>-  50.9% of customers had no purchase in the last 90 days</a:t>
            </a:r>
          </a:p>
          <a:p>
            <a:pPr>
              <a:spcAft>
                <a:spcPts val="1400"/>
              </a:spcAft>
              <a:defRPr sz="1800">
                <a:solidFill>
                  <a:srgbClr val="595959"/>
                </a:solidFill>
              </a:defRPr>
            </a:pPr>
            <a:r>
              <a:t>-  A churn prediction model correctly identifies 81% of at-risk customers (recall = 0.81)</a:t>
            </a:r>
          </a:p>
          <a:p>
            <a:pPr>
              <a:spcAft>
                <a:spcPts val="1400"/>
              </a:spcAft>
              <a:defRPr sz="1800">
                <a:solidFill>
                  <a:srgbClr val="595959"/>
                </a:solidFill>
              </a:defRPr>
            </a:pPr>
            <a:r>
              <a:t>-  Purchase FREQUENCY is by far the strongest predictor of churn -- far more than total spend</a:t>
            </a:r>
          </a:p>
          <a:p>
            <a:pPr>
              <a:spcAft>
                <a:spcPts val="1400"/>
              </a:spcAft>
              <a:defRPr sz="1800">
                <a:solidFill>
                  <a:srgbClr val="595959"/>
                </a:solidFill>
              </a:defRPr>
            </a:pPr>
            <a:r>
              <a:t>-  Customers who buy small amounts often are a safer bet than those who spend big rarely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3864"/>
                </a:solidFill>
              </a:rPr>
              <a:t>Finding 2: Revenue Concentration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95959"/>
                </a:solidFill>
              </a:defRPr>
            </a:pPr>
            <a:r>
              <a:t>-  Total revenue: $20,972,968 across 40,076 orders from 5,939 customers</a:t>
            </a:r>
          </a:p>
          <a:p>
            <a:pPr>
              <a:spcAft>
                <a:spcPts val="1400"/>
              </a:spcAft>
              <a:defRPr sz="1800">
                <a:solidFill>
                  <a:srgbClr val="595959"/>
                </a:solidFill>
              </a:defRPr>
            </a:pPr>
            <a:r>
              <a:t>-  The United Kingdom accounts for the large majority of revenue (92% of transactions)</a:t>
            </a:r>
          </a:p>
          <a:p>
            <a:pPr>
              <a:spcAft>
                <a:spcPts val="1400"/>
              </a:spcAft>
              <a:defRPr sz="1800">
                <a:solidFill>
                  <a:srgbClr val="595959"/>
                </a:solidFill>
              </a:defRPr>
            </a:pPr>
            <a:r>
              <a:t>-  "Other" and "Kitchen &amp; Dining" are the top two product categories by revenue</a:t>
            </a:r>
          </a:p>
          <a:p>
            <a:pPr>
              <a:spcAft>
                <a:spcPts val="1400"/>
              </a:spcAft>
              <a:defRPr sz="1800">
                <a:solidFill>
                  <a:srgbClr val="595959"/>
                </a:solidFill>
              </a:defRPr>
            </a:pPr>
            <a:r>
              <a:t>-  Clear seasonal peaks each November -- holiday gift-buying drives the annual cycle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3864"/>
                </a:solidFill>
              </a:rPr>
              <a:t>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95959"/>
                </a:solidFill>
              </a:defRPr>
            </a:pPr>
            <a:r>
              <a:t>-  Target high-frequency customers who have gone quiet BEFORE they cross the 90-day threshold</a:t>
            </a:r>
          </a:p>
          <a:p>
            <a:pPr>
              <a:spcAft>
                <a:spcPts val="1400"/>
              </a:spcAft>
              <a:defRPr sz="1800">
                <a:solidFill>
                  <a:srgbClr val="595959"/>
                </a:solidFill>
              </a:defRPr>
            </a:pPr>
            <a:r>
              <a:t>-  Prioritize re-engagement campaigns by predicted churn risk, not just recency alone</a:t>
            </a:r>
          </a:p>
          <a:p>
            <a:pPr>
              <a:spcAft>
                <a:spcPts val="1400"/>
              </a:spcAft>
              <a:defRPr sz="1800">
                <a:solidFill>
                  <a:srgbClr val="595959"/>
                </a:solidFill>
              </a:defRPr>
            </a:pPr>
            <a:r>
              <a:t>-  Focus retention spend on frequent, moderate-value customers -- the model shows this segment</a:t>
            </a:r>
          </a:p>
          <a:p>
            <a:pPr>
              <a:spcAft>
                <a:spcPts val="1400"/>
              </a:spcAft>
              <a:defRPr sz="1800">
                <a:solidFill>
                  <a:srgbClr val="595959"/>
                </a:solidFill>
              </a:defRPr>
            </a:pPr>
            <a:r>
              <a:t>-    is more valuable to protect than rare, high-value ones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3864"/>
                </a:solidFill>
              </a:rPr>
              <a:t>What This Enables Going Forward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595959"/>
                </a:solidFill>
              </a:defRPr>
            </a:pPr>
            <a:r>
              <a:t>-  A live dashboard (Tableau) refreshed on demand for ad-hoc exploration</a:t>
            </a:r>
          </a:p>
          <a:p>
            <a:pPr>
              <a:spcAft>
                <a:spcPts val="1400"/>
              </a:spcAft>
              <a:defRPr sz="1800">
                <a:solidFill>
                  <a:srgbClr val="595959"/>
                </a:solidFill>
              </a:defRPr>
            </a:pPr>
            <a:r>
              <a:t>-  An automated weekly PDF executive summary -- zero manual reporting effort</a:t>
            </a:r>
          </a:p>
          <a:p>
            <a:pPr>
              <a:spcAft>
                <a:spcPts val="1400"/>
              </a:spcAft>
              <a:defRPr sz="1800">
                <a:solidFill>
                  <a:srgbClr val="595959"/>
                </a:solidFill>
              </a:defRPr>
            </a:pPr>
            <a:r>
              <a:t>-  A churn-scored customer table, ready to feed directly into a retention campaign</a:t>
            </a:r>
          </a:p>
          <a:p>
            <a:pPr>
              <a:spcAft>
                <a:spcPts val="1400"/>
              </a:spcAft>
              <a:defRPr sz="1800">
                <a:solidFill>
                  <a:srgbClr val="595959"/>
                </a:solidFill>
              </a:defRPr>
            </a:pPr>
            <a:r>
              <a:t>-  A documented, reproducible data pipeline -- not a one-off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1F3864"/>
                </a:solidFill>
              </a:rPr>
              <a:t>Appendix: Technical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595959"/>
                </a:solidFill>
              </a:defRPr>
            </a:pPr>
            <a:r>
              <a:t>-  Data warehouse: PostgreSQL, dimensional star schema (1 fact + 4 dimension tables)</a:t>
            </a:r>
          </a:p>
          <a:p>
            <a:pPr>
              <a:spcAft>
                <a:spcPts val="1400"/>
              </a:spcAft>
              <a:defRPr sz="1600">
                <a:solidFill>
                  <a:srgbClr val="595959"/>
                </a:solidFill>
              </a:defRPr>
            </a:pPr>
            <a:r>
              <a:t>-  ETL: Python (pandas, SQLAlchemy), idempotent and re-runnable</a:t>
            </a:r>
          </a:p>
          <a:p>
            <a:pPr>
              <a:spcAft>
                <a:spcPts val="1400"/>
              </a:spcAft>
              <a:defRPr sz="1600">
                <a:solidFill>
                  <a:srgbClr val="595959"/>
                </a:solidFill>
              </a:defRPr>
            </a:pPr>
            <a:r>
              <a:t>-  Churn model: Logistic Regression, precision 0.67 / recall 0.81 on the churned class</a:t>
            </a:r>
          </a:p>
          <a:p>
            <a:pPr>
              <a:spcAft>
                <a:spcPts val="1400"/>
              </a:spcAft>
              <a:defRPr sz="1600">
                <a:solidFill>
                  <a:srgbClr val="595959"/>
                </a:solidFill>
              </a:defRPr>
            </a:pPr>
            <a:r>
              <a:t>-  Source data: Online Retail II (UCI/Kaggle), ~1.06M real transactions, 2009-2011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